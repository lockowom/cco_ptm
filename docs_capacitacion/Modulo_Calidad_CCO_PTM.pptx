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97316"/>
                </a:solidFill>
                <a:latin typeface="Calibri"/>
              </a:rPr>
              <a:t>CCO · PTM CHILE — MANUAL DE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28800"/>
            <a:ext cx="1069848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Calibri"/>
              </a:rPr>
              <a:t>Módulo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2E8F0"/>
                </a:solidFill>
                <a:latin typeface="Calibri"/>
              </a:rPr>
              <a:t>Proceso por hitos: Recepción · Estancia · Salida — pantalla por pantalla, botón por botón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977639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HITO 1 · RECEPCIÓN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3977639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HITO 2 · ESTANCIA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3977639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HITO 3 · SALIDA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87768" y="3977639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3977639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TRAZABILIDAD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2064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Sistema CCO — cco-ptm.onrender.com · app Android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Versión del sistema: 1.19.0 · Julio 2026 · Alineado a ISO 13485:2016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¿Qué hace el módulo de Calidad?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Controla la calidad en 3 hitos del producto: </a:t>
            </a:r>
            <a:r>
              <a:rPr sz="1400" b="0">
                <a:solidFill>
                  <a:srgbClr val="334155"/>
                </a:solidFill>
                <a:latin typeface="Calibri"/>
              </a:rPr>
              <a:t>cuando ENTRA (checklist de recepción), mientras ESTÁ guardado (monitoreo y dictámenes) y cuando SALE (certificación de despacho).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Genera documentos con validez: </a:t>
            </a:r>
            <a:r>
              <a:rPr sz="1400" b="0">
                <a:solidFill>
                  <a:srgbClr val="334155"/>
                </a:solidFill>
                <a:latin typeface="Calibri"/>
              </a:rPr>
              <a:t>certificados CERT- / actas ACTA- con firma digital (HMAC-SHA256) y QR de verificación pública.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Deriva trabajo a quien ejecuta: </a:t>
            </a:r>
            <a:r>
              <a:rPr sz="1400" b="0">
                <a:solidFill>
                  <a:srgbClr val="334155"/>
                </a:solidFill>
                <a:latin typeface="Calibri"/>
              </a:rPr>
              <a:t>cada dictamen puede promulgar una ACCIÓN con folio que cae al área responsable (Bodega, Servicio Técnico, Calidad…).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Deja trazabilidad completa: </a:t>
            </a:r>
            <a:r>
              <a:rPr sz="1400" b="0">
                <a:solidFill>
                  <a:srgbClr val="334155"/>
                </a:solidFill>
                <a:latin typeface="Calibri"/>
              </a:rPr>
              <a:t>cada SKU tiene su línea de tiempo Recepción → Estancia → Acción → Salida.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Todo con evidencia: </a:t>
            </a:r>
            <a:r>
              <a:rPr sz="1400" b="0">
                <a:solidFill>
                  <a:srgbClr val="334155"/>
                </a:solidFill>
                <a:latin typeface="Calibri"/>
              </a:rPr>
              <a:t>fotos comprimidas y privadas (URLs firmadas), exportes Word / PDF /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5257800" cy="44805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LAS 4 PANTALLAS DEL MÓDULO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2148840"/>
          <a:ext cx="4754879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6464"/>
                <a:gridCol w="1569110"/>
                <a:gridCol w="1759305"/>
              </a:tblGrid>
              <a:tr h="4754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Pantalla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Dónde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Para qué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Módulo de 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Menú Calidad → Monitoreo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Los 3 hitos en pestañas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Acciones de Calidad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Menú Calidad → Acciones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Tablero de todas las acciones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Mi Bandeja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Menú Calidad → Mi Bandeja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Solo las acciones de MI área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Verificar (QR)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/verificar — pública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Valida certificados sin login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75120" y="4709160"/>
            <a:ext cx="47548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Permisos: </a:t>
            </a:r>
            <a:r>
              <a:rPr sz="1100" b="0">
                <a:solidFill>
                  <a:srgbClr val="64748B"/>
                </a:solidFill>
                <a:latin typeface="Calibri"/>
              </a:rPr>
              <a:t>crear informes = Calidad (manage_monitoreo/quality) · dictaminar = solo manage_quality · asignar SKUs = ADMIN · Inventario entra solo al Hito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El flujo completo, de punta a punta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 · RECEPCIÓN
Checklist de ingreso</a:t>
            </a:r>
          </a:p>
        </p:txBody>
      </p:sp>
      <p:sp>
        <p:nvSpPr>
          <p:cNvPr id="9" name="Chevron 8"/>
          <p:cNvSpPr/>
          <p:nvPr/>
        </p:nvSpPr>
        <p:spPr>
          <a:xfrm>
            <a:off x="2179563" y="1922068"/>
            <a:ext cx="204825" cy="362102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160020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CERT- conforme
ACTA- no conforme</a:t>
            </a:r>
          </a:p>
        </p:txBody>
      </p:sp>
      <p:sp>
        <p:nvSpPr>
          <p:cNvPr id="11" name="Chevron 10"/>
          <p:cNvSpPr/>
          <p:nvPr/>
        </p:nvSpPr>
        <p:spPr>
          <a:xfrm>
            <a:off x="4081515" y="1922068"/>
            <a:ext cx="204825" cy="362102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06824" y="160020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 · ESTANCIA
Monitoreo + Daños</a:t>
            </a:r>
          </a:p>
        </p:txBody>
      </p:sp>
      <p:sp>
        <p:nvSpPr>
          <p:cNvPr id="13" name="Chevron 12"/>
          <p:cNvSpPr/>
          <p:nvPr/>
        </p:nvSpPr>
        <p:spPr>
          <a:xfrm>
            <a:off x="5983467" y="1922068"/>
            <a:ext cx="204825" cy="362102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160020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DICTAMEN
por ítem</a:t>
            </a:r>
          </a:p>
        </p:txBody>
      </p:sp>
      <p:sp>
        <p:nvSpPr>
          <p:cNvPr id="15" name="Chevron 14"/>
          <p:cNvSpPr/>
          <p:nvPr/>
        </p:nvSpPr>
        <p:spPr>
          <a:xfrm>
            <a:off x="7885419" y="1922068"/>
            <a:ext cx="204825" cy="362102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160020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ACCIÓN AC-
al área ejecutora</a:t>
            </a:r>
          </a:p>
        </p:txBody>
      </p:sp>
      <p:sp>
        <p:nvSpPr>
          <p:cNvPr id="17" name="Chevron 16"/>
          <p:cNvSpPr/>
          <p:nvPr/>
        </p:nvSpPr>
        <p:spPr>
          <a:xfrm>
            <a:off x="9787371" y="1922068"/>
            <a:ext cx="204825" cy="362102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12680" y="160020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· SALIDA
CERT-SAL-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718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Las tareas llegan solas: </a:t>
            </a:r>
            <a:r>
              <a:rPr sz="1300" b="0">
                <a:solidFill>
                  <a:srgbClr val="334155"/>
                </a:solidFill>
                <a:latin typeface="Calibri"/>
              </a:rPr>
              <a:t>al registrar una recepción se crea automáticamente su checklist; el resultado (CONFORME / NO CONFORME) también se calcula solo según las respuestas.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Un NO CONFORME nunca queda botado: </a:t>
            </a:r>
            <a:r>
              <a:rPr sz="1300" b="0">
                <a:solidFill>
                  <a:srgbClr val="334155"/>
                </a:solidFill>
                <a:latin typeface="Calibri"/>
              </a:rPr>
              <a:t>exige una disposición, emite ACTA- y genera de inmediato la tarea urgente de Informe de Daños.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El dictamen mueve al resto de la empresa: </a:t>
            </a:r>
            <a:r>
              <a:rPr sz="1300" b="0">
                <a:solidFill>
                  <a:srgbClr val="334155"/>
                </a:solidFill>
                <a:latin typeface="Calibri"/>
              </a:rPr>
              <a:t>Bodega recibe la solicitud en la carpeta CALIDAD TRAZABILIDAD de Traspasos; Servicio Técnico recibe un ticket TKT- con el informe adjunto.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09160"/>
            <a:ext cx="11155680" cy="14630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FOLIOS QUE EMITE EL MÓDULO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77240" y="5166360"/>
          <a:ext cx="10607039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3548"/>
                <a:gridCol w="8273491"/>
              </a:tblGrid>
              <a:tr h="23774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Folio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Documento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CERT- / ACTA-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Checklist de ingreso conforme / no conforme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MON- / DAN-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Informe de Monitoreo / Informe de Daños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AC-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Acción de Calidad promulgada a un área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Calibri"/>
                        </a:rPr>
                        <a:t>CERT-SAL- / ACTA-SAL-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Certificación de salida conforme / no conforme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6366F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HITO 1 — Recepción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Calibri"/>
              </a:rPr>
              <a:t>Checklist de ingreso a bodega · pestaña "Recepción" del Módulo de Calidad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1 · RECEPCIÓN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La cola de tareas: qué ves al entrar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Se llena sola: </a:t>
            </a:r>
            <a:r>
              <a:rPr sz="1300" b="0">
                <a:solidFill>
                  <a:srgbClr val="334155"/>
                </a:solidFill>
                <a:latin typeface="Calibri"/>
              </a:rPr>
              <a:t>cada recepción registrada en Inbound crea automáticamente su tarea de checklist. El contador dice "N tarea(s) · N pendiente(s)" y se refresca solo (tiempo real + cada 20 s).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Cada tarjeta muestra: </a:t>
            </a:r>
            <a:r>
              <a:rPr sz="1300" b="0">
                <a:solidFill>
                  <a:srgbClr val="334155"/>
                </a:solidFill>
                <a:latin typeface="Calibri"/>
              </a:rPr>
              <a:t>proveedor, estado (Pendiente / En proceso / Conforme / No conforme), origen (Importación índigo · Nacional teal), folio si ya certificó, "OC … · fecha" y N° de bultos.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Orden inteligente: </a:t>
            </a:r>
            <a:r>
              <a:rPr sz="1300" b="0">
                <a:solidFill>
                  <a:srgbClr val="334155"/>
                </a:solidFill>
                <a:latin typeface="Calibri"/>
              </a:rPr>
              <a:t>primero lo Pendiente, luego En proceso, No conforme y al final lo Conforme.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291840"/>
          <a:ext cx="1115567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Actualizar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Refresca la cola manualmente.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Clic en la tarjeta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el formulario del checklist de esa recepción.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🗑 Papelera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Solo ADMIN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Elimina la tarea (pide confirmación). Úsalo solo para tareas creadas por error.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Calibri"/>
              </a:rPr>
              <a:t>Pestañas del módulo: </a:t>
            </a:r>
            <a:r>
              <a:rPr sz="1200" b="0">
                <a:solidFill>
                  <a:srgbClr val="64748B"/>
                </a:solidFill>
                <a:latin typeface="Calibri"/>
              </a:rPr>
              <a:t>1 Recepción · 2 Estancia · 3 Salida — cada una con un badge ámbar con sus pendientes. Los botones verdes "+ Monitoreo" e "Informe de Daños" solo aparecen en la pestaña Estancia.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1 · RECEPCIÓN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El checklist: qué se revisa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00476"/>
                <a:gridCol w="8255203"/>
              </a:tblGrid>
              <a:tr h="6858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Qué se revisa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Nivel 1 — Revisión documental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7 puntos: packing list/factura legible · proveedor y OC coinciden · cantidades vs declarado · lote/serie identificado · vencimiento vigente · registro sanitario/certificado · cadena de frío documentada (si aplica).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Nivel 2 — Inspección física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7 puntos: embalaje externo íntegro · sellos/precintos · sin humedad · etiquetado legible · N° de bultos coincide · sin daño visible · empaque primario en buen estado.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Requisitos por FAMILIA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El sistema detecta las familias de la recepción (Equipo activo, Insumo estéril, Mobiliario, Ayuda técnica, Bienestar, Empaque) y agrega un nivel extra con los requisitos específicos de cada una (con su Clase).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977639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Avisos automáticos: </a:t>
            </a:r>
            <a:r>
              <a:rPr sz="1300" b="0">
                <a:solidFill>
                  <a:srgbClr val="334155"/>
                </a:solidFill>
                <a:latin typeface="Calibri"/>
              </a:rPr>
              <a:t>si hay familias con control ISP obligatorio, si la recepción trae producto NO sanitario (el documento no será certificado ISO 13485) y si hay ítems SIN CLASIFICAR.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Cada punto se responde con 3 botones: </a:t>
            </a:r>
            <a:r>
              <a:rPr sz="1300" b="1">
                <a:solidFill>
                  <a:srgbClr val="10B981"/>
                </a:solidFill>
                <a:latin typeface="Calibri"/>
              </a:rPr>
              <a:t>✓ OK</a:t>
            </a:r>
            <a:r>
              <a:rPr sz="1300" b="0">
                <a:solidFill>
                  <a:srgbClr val="334155"/>
                </a:solidFill>
                <a:latin typeface="Calibri"/>
              </a:rPr>
              <a:t>  ·  </a:t>
            </a:r>
            <a:r>
              <a:rPr sz="1300" b="1">
                <a:solidFill>
                  <a:srgbClr val="E11D48"/>
                </a:solidFill>
                <a:latin typeface="Calibri"/>
              </a:rPr>
              <a:t>✗ NO</a:t>
            </a:r>
            <a:r>
              <a:rPr sz="1300" b="0">
                <a:solidFill>
                  <a:srgbClr val="334155"/>
                </a:solidFill>
                <a:latin typeface="Calibri"/>
              </a:rPr>
              <a:t>  ·  </a:t>
            </a:r>
            <a:r>
              <a:rPr sz="1300" b="1">
                <a:solidFill>
                  <a:srgbClr val="64748B"/>
                </a:solidFill>
                <a:latin typeface="Calibri"/>
              </a:rPr>
              <a:t>− NA</a:t>
            </a:r>
            <a:r>
              <a:rPr sz="1300" b="0">
                <a:solidFill>
                  <a:srgbClr val="334155"/>
                </a:solidFill>
                <a:latin typeface="Calibri"/>
              </a:rPr>
              <a:t>.  Con NO se abre el campo "Detalle de la no conformidad"; con NA, la "Justificación del N/A" (recomendada para auditoría ISO).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Resultado automático: </a:t>
            </a:r>
            <a:r>
              <a:rPr sz="1300" b="0">
                <a:solidFill>
                  <a:srgbClr val="334155"/>
                </a:solidFill>
                <a:latin typeface="Calibri"/>
              </a:rPr>
              <a:t>la barra inferior calcula sola: "N ítem(s) por responder" → "Resultado automático: CONFORME" (todo OK/NA) o "NO CONFORME" (algún NO). Tú no eliges el resultado: lo determinan las respuestas.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Con algún NO se exige la "Disposición / Acción a tomar": </a:t>
            </a:r>
            <a:r>
              <a:rPr sz="1300" b="0">
                <a:solidFill>
                  <a:srgbClr val="334155"/>
                </a:solidFill>
                <a:latin typeface="Calibri"/>
              </a:rPr>
              <a:t>Rechazar y devolver · Cuarentena · Aceptar con salvedades · Reproceso · Solicitud de NC al proveedor.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1 · RECEPCIÓN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Botones del checklist y qué pasa al finalizar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669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Guardar avance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Mientras la tarea esté abierta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Guarda lo respondido sin cerrar; puedes seguir después.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Finalizar y certificar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Todo respondido y SIN ningún NO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Cierra la tarea como CONFORME y emite el folio CERT- automáticamente. La tarea queda bloqueada (solo lectura).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11D48"/>
                          </a:solidFill>
                          <a:latin typeface="Calibri"/>
                        </a:rPr>
                        <a:t>Finalizar (No Conforme)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Todo respondido y CON algún NO (exige disposición)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Cierra como NO CONFORME, emite folio ACTA- y crea la tarea urgente de Informe de Daños.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Generar Informe de Daños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Tarea ya en NO CONFORME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el Informe de Daños PRE-CARGADO con los antecedentes (OC, proveedor, origen, fecha) y te lleva a la pestaña Estancia.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Firmar digitalmente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Tarea finalizada, sin firma, con permiso de 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Sella el documento con firma HMAC-SHA256 en el servidor. Queda el bloque "Firmado digitalmente" con nombre, fecha y hash.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PDF  /  Word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Descarga el checklist como documento (incluye familias y clasificación sanitaria). Los documentos firmados llevan QR verificable.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2410C"/>
                </a:solidFill>
                <a:latin typeface="Calibri"/>
              </a:rPr>
              <a:t>Regla de oro: </a:t>
            </a:r>
            <a:r>
              <a:rPr sz="1300" b="0">
                <a:solidFill>
                  <a:srgbClr val="334155"/>
                </a:solidFill>
                <a:latin typeface="Calibri"/>
              </a:rPr>
              <a:t>CONFORME certifica solo (CERT-). NO CONFORME nunca es un callejón: disposición + ACTA- + Informe de Daños en un clic.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HITO 2 — Estancia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Calibri"/>
              </a:rPr>
              <a:t>Asignaciones · Informe de Monitoreo · Informe de Daños · Dictámenes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2 · ESTANCIA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Revisiones asignadas por Inventario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¿Para qué sirve? </a:t>
            </a:r>
            <a:r>
              <a:rPr sz="1300" b="0">
                <a:solidFill>
                  <a:srgbClr val="334155"/>
                </a:solidFill>
                <a:latin typeface="Calibri"/>
              </a:rPr>
              <a:t>Inventario (ADMIN) le "encarga" a Calidad revisar ciertos SKUs. La asignación queda como tarjeta con estado, prioridad, los SKUs, el motivo y quién la creó.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331720"/>
          <a:ext cx="11155679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669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Asignar SKUs a 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Solo ADMIN / delegado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el modal: buscas por SKU/descripción/ubicación, agregas con ＋, defines Motivo y Prioridad (Normal/Urgente) y pulsas "Asignar a Calidad".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Generar informe / dictamen →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Asignación abierta + permiso de Calidad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un Informe de Monitoreo PRE-CARGADO con los SKUs de la asignación. Al guardarlo, la asignación queda RESUELTA y enlazada al informe.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⛔ Anular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Asignación abierta + ADMIN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Anula la asignación (confirmación).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🗑 Eliminar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Solo ADMIN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Borra la asignación definitivamente.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Calibri"/>
              </a:rPr>
              <a:t>Estados de la asignación: </a:t>
            </a:r>
            <a:r>
              <a:rPr sz="1200" b="0">
                <a:solidFill>
                  <a:srgbClr val="334155"/>
                </a:solidFill>
                <a:latin typeface="Calibri"/>
              </a:rPr>
              <a:t>Pendiente (ámbar) → En proceso (celeste) → Resuelta (verde, muestra quién la resolvió) · Anulada (gris). Con prioridad Urgente aparece el chip rojo.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2 · ESTANCIA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Informe de Monitoreo: crearlo paso a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596896" cy="86868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 · Cabecera
Bodega · Periodicidad</a:t>
            </a:r>
          </a:p>
        </p:txBody>
      </p:sp>
      <p:sp>
        <p:nvSpPr>
          <p:cNvPr id="9" name="Chevron 8"/>
          <p:cNvSpPr/>
          <p:nvPr/>
        </p:nvSpPr>
        <p:spPr>
          <a:xfrm>
            <a:off x="3130539" y="1695297"/>
            <a:ext cx="204825" cy="31272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5848" y="1417320"/>
            <a:ext cx="2596896" cy="86868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 · Buscar stock
+ filtro 🔴🟠 vencer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83467" y="1695297"/>
            <a:ext cx="204825" cy="31272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417320"/>
            <a:ext cx="2596896" cy="86868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· Completar ítems
lote/serie · ubicación · condición</a:t>
            </a:r>
          </a:p>
        </p:txBody>
      </p:sp>
      <p:sp>
        <p:nvSpPr>
          <p:cNvPr id="13" name="Chevron 12"/>
          <p:cNvSpPr/>
          <p:nvPr/>
        </p:nvSpPr>
        <p:spPr>
          <a:xfrm>
            <a:off x="8836395" y="1695297"/>
            <a:ext cx="204825" cy="31272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61704" y="1417320"/>
            <a:ext cx="2596896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 · Guardar borrador
o Enviar a 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Buscador de candidatos: </a:t>
            </a:r>
            <a:r>
              <a:rPr sz="1300" b="0">
                <a:solidFill>
                  <a:srgbClr val="334155"/>
                </a:solidFill>
                <a:latin typeface="Calibri"/>
              </a:rPr>
              <a:t>escribe SKU o descripción; el checkbox "Solo 🔴/🟠 (próx. a vencer)" filtra por semáforo de vencimiento. Cada resultado muestra su semáforo, lote y ubicación; se agrega con ＋.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Por cada ítem completa: </a:t>
            </a:r>
            <a:r>
              <a:rPr sz="1300" b="0">
                <a:solidFill>
                  <a:srgbClr val="334155"/>
                </a:solidFill>
                <a:latin typeface="Calibri"/>
              </a:rPr>
              <a:t>el selector "Elegir lote / serie…" (chips LOTE naranja / SERIE azul con disponible; permite "usar X manualmente" si no está en la lista), la Ubicación (OBLIGATORIA para enviar), Cant. total, Uds afectadas (solo si la condición no es OK) y la Condición observada.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Condiciones disponibles: </a:t>
            </a:r>
            <a:r>
              <a:rPr sz="1300" b="0">
                <a:solidFill>
                  <a:srgbClr val="334155"/>
                </a:solidFill>
                <a:latin typeface="Calibri"/>
              </a:rPr>
              <a:t>OK · Próximo a vencer · Vencido · Daño de empaque · Daño de producto · Faltante · Sobrante · Sin rotación  (+ campo de nota).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Producto NO registrado: </a:t>
            </a:r>
            <a:r>
              <a:rPr sz="1300" b="0">
                <a:solidFill>
                  <a:srgbClr val="334155"/>
                </a:solidFill>
                <a:latin typeface="Calibri"/>
              </a:rPr>
              <a:t>botón "+ Agregar manual" (Código y Ubicación obligatorios) — entra marcado NO REGISTRADO y al enviar genera alerta automática a Inventario (push a ADMIN).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Aviso importante: </a:t>
            </a:r>
            <a:r>
              <a:rPr sz="1300" b="0">
                <a:solidFill>
                  <a:srgbClr val="334155"/>
                </a:solidFill>
                <a:latin typeface="Calibri"/>
              </a:rPr>
              <a:t>al ENVIAR, cada ubicación con condición distinta de OK se marca "En Auditoría" en el mapa de Ubicaciones (todos la ven bloqueada para operar).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alibri"/>
              </a:rPr>
              <a:t>Guardar borrador</a:t>
            </a:r>
            <a:r>
              <a:rPr sz="1200" b="0">
                <a:solidFill>
                  <a:srgbClr val="334155"/>
                </a:solidFill>
                <a:latin typeface="Calibri"/>
              </a:rPr>
              <a:t> = guarda sin efectos (correlativo MON- reservado).   </a:t>
            </a:r>
            <a:r>
              <a:rPr sz="1200" b="1">
                <a:solidFill>
                  <a:srgbClr val="10B981"/>
                </a:solidFill>
                <a:latin typeface="Calibri"/>
              </a:rPr>
              <a:t>Enviar a Calidad</a:t>
            </a:r>
            <a:r>
              <a:rPr sz="1200" b="0">
                <a:solidFill>
                  <a:srgbClr val="334155"/>
                </a:solidFill>
                <a:latin typeface="Calibri"/>
              </a:rPr>
              <a:t> = valida ubicaciones, marca auditoría, alerta no registrados y deja el informe listo para dictaminar.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2 · ESTANCIA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Dictaminar: el corazón del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Panel "Avance del dictamen": </a:t>
            </a:r>
            <a:r>
              <a:rPr sz="1300" b="0">
                <a:solidFill>
                  <a:srgbClr val="334155"/>
                </a:solidFill>
                <a:latin typeface="Calibri"/>
              </a:rPr>
              <a:t>barra X/Y · %, KPIs (Ítems, Dictaminados, Pendientes, Con problema, No registrados) y chips de semáforo: 🔴 vence &lt;30 días · 🟠 &lt;90 días · 🟢 vigente.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377440"/>
          <a:ext cx="11155678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4908"/>
                <a:gridCol w="2008022"/>
                <a:gridCol w="1784908"/>
                <a:gridCol w="557784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Dictamen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Estado que fija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¿Bodega destino?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Efecto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LIBERAR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LIBERADO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El producto queda apto; badge verde en su trazabilidad.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2410C"/>
                          </a:solidFill>
                          <a:latin typeface="Calibri"/>
                        </a:rPr>
                        <a:t>CUARENTENA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CUARENTENA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Retención para evaluación + push a móviles ADMIN.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</a:rPr>
                        <a:t>REPROCESO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EN AUDITORÍA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Vuelve a revisión/reacondicionamiento.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11D48"/>
                          </a:solidFill>
                          <a:latin typeface="Calibri"/>
                        </a:rPr>
                        <a:t>RECHAZAR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MALO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No apto + push a móviles ADMIN.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11D48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MALO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Baja definitiva (BD 99) + push a móviles ADMIN.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463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Bodega destino (Softland): </a:t>
            </a:r>
            <a:r>
              <a:rPr sz="1300" b="0">
                <a:solidFill>
                  <a:srgbClr val="334155"/>
                </a:solidFill>
                <a:latin typeface="Calibri"/>
              </a:rPr>
              <a:t>obligatoria cuando el dictamen mueve stock; catálogo administrable (ej. BD 5 — Servicio Técnico, BD 99 — Baja definitiva).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Acuse / nota: </a:t>
            </a:r>
            <a:r>
              <a:rPr sz="1300" b="0">
                <a:solidFill>
                  <a:srgbClr val="334155"/>
                </a:solidFill>
                <a:latin typeface="Calibri"/>
              </a:rPr>
              <a:t>la justificación del dictamen, queda en el historial del ítem.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Botón "Cerrar dictamen del informe": </a:t>
            </a:r>
            <a:r>
              <a:rPr sz="1300" b="0">
                <a:solidFill>
                  <a:srgbClr val="334155"/>
                </a:solidFill>
                <a:latin typeface="Calibri"/>
              </a:rPr>
              <a:t>aparece cuando NO quedan pendientes; deja el informe en estado DICTAMINADO.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2 · ESTANCIA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La acción recomendada: derivar el trabajo a un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En el mismo formulario del dictamen </a:t>
            </a:r>
            <a:r>
              <a:rPr sz="1300" b="0">
                <a:solidFill>
                  <a:srgbClr val="334155"/>
                </a:solidFill>
                <a:latin typeface="Calibri"/>
              </a:rPr>
              <a:t>puedes promulgar una ACCIÓN: eliges el tipo (pre-carga su área), el Área responsable, la Prioridad y la "Instrucción a la acción". Al dictaminar se crea con folio AC- y cae al tablero del área.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286000"/>
          <a:ext cx="11155678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16044"/>
                <a:gridCol w="2008022"/>
                <a:gridCol w="5131612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Tipo de acción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Área por defecto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Camino que sigue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AJUSTE · BAJA · TRANSITORIO · REACONDICIONAR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BODEGA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Además caen en la carpeta CALIDAD TRAZABILIDAD de Traspasos (lámina 21).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REPARACION · POST_VENTA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CALIDAD / VENTAS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Permiten crear un ticket de Servicio Técnico con el informe adjunto (lámina 22).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OPINION_EXPERTA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Consulta interna del equipo de Calidad.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069080"/>
          <a:ext cx="11155679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486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Word / PDF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 (detalle del informe)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Descarga el informe de monitoreo formateado.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Libro con 2 hojas: Resumen (KPIs, conteos por semáforo/dictamen/condición) y Detalle (una fila por ítem con dictamen, destino, acuse, quién y cuándo).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Editar / Eliminar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Permiso de 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Editar reabre el builder (si estaba DICTAMINADO, avisa que se reinician los dictámenes). Eliminar borra informe + ítems + evidencias.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2 · ESTANCIA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Informe de Daños: estructura del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00476"/>
                <a:gridCol w="8255203"/>
              </a:tblGrid>
              <a:tr h="47548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Encabezado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Fecha de recepción · Tipo de producto · Área responsable · Clasificación (No Conformidad/Transporte, Recepción, Almacenamiento, Manipulación, Vencido/Deteriorado) · Bodega.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1 · Antecedentes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Texto libre. Si viene de un checklist NO CONFORME, llega PRE-CARGADO con OC, proveedor y origen.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2 · Descripción del hallazgo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Texto libre.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Calibri"/>
                        </a:rPr>
                        <a:t>3 · Daños identificados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Botón "+ Agregar hallazgo". Cada hallazgo: Tipo de daño · Componente afectado · Cantidad · SKU/Ubicación/Lote (opcionales) · Consecuencia · Observaciones · EVIDENCIA FOTOGRÁFICA.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4 · Cuadro resumen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Botón "+ Fila": pares Indicador / Valor.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5 · Análisis y causa probable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Texto libre.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6 · Acciones recomendadas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Botón "+ Acción": lista de acciones.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Firmas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Calibri"/>
                        </a:rPr>
                        <a:t>Elaborado por (tu nombre por defecto) · Revisado por.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B981"/>
                </a:solidFill>
                <a:latin typeface="Calibri"/>
              </a:rPr>
              <a:t>Guardar</a:t>
            </a:r>
            <a:r>
              <a:rPr sz="1250" b="0">
                <a:solidFill>
                  <a:srgbClr val="334155"/>
                </a:solidFill>
                <a:latin typeface="Calibri"/>
              </a:rPr>
              <a:t> = borrador (conserva las fotos ya subidas).   </a:t>
            </a:r>
            <a:r>
              <a:rPr sz="1250" b="1">
                <a:solidFill>
                  <a:srgbClr val="E11D48"/>
                </a:solidFill>
                <a:latin typeface="Calibri"/>
              </a:rPr>
              <a:t>Guardar y enviar</a:t>
            </a:r>
            <a:r>
              <a:rPr sz="1250" b="0">
                <a:solidFill>
                  <a:srgbClr val="334155"/>
                </a:solidFill>
                <a:latin typeface="Calibri"/>
              </a:rPr>
              <a:t> = queda ENVIADO A CALIDAD.   </a:t>
            </a:r>
            <a:r>
              <a:rPr sz="1250" b="1">
                <a:solidFill>
                  <a:srgbClr val="0F172A"/>
                </a:solidFill>
                <a:latin typeface="Calibri"/>
              </a:rPr>
              <a:t>Word / PDF</a:t>
            </a:r>
            <a:r>
              <a:rPr sz="1250" b="0">
                <a:solidFill>
                  <a:srgbClr val="334155"/>
                </a:solidFill>
                <a:latin typeface="Calibri"/>
              </a:rPr>
              <a:t> se habilitan después del primer guardado (las fotos van embebidas en el documento).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2 · ESTANCIA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Evidencia fotográfica (en cada hallazgo)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669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Foto  (recuadro punteado)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Con permiso; se habilita al guardar el borrador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cámara o galería (acepta varias). La imagen se comprime sola (máx 1600px) y se sube al archivo del informe.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Clic en la miniatura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la foto a pantalla completa (lightbox); X para cerrar.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🗑 sobre la miniatura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Con permiso (aparece al pasar el mouse)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Elimina la foto (confirmación). Borra también el archivo del almacenamiento.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204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Privacidad: </a:t>
            </a:r>
            <a:r>
              <a:rPr sz="1300" b="0">
                <a:solidFill>
                  <a:srgbClr val="334155"/>
                </a:solidFill>
                <a:latin typeface="Calibri"/>
              </a:rPr>
              <a:t>las fotos viven en un almacenamiento PRIVADO — solo usuarios con sesión las ven (URLs firmadas que expiran). Nadie externo puede abrirlas con el link.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Consejo: </a:t>
            </a:r>
            <a:r>
              <a:rPr sz="1300" b="0">
                <a:solidFill>
                  <a:srgbClr val="334155"/>
                </a:solidFill>
                <a:latin typeface="Calibri"/>
              </a:rPr>
              <a:t>si el botón Foto está gris con el aviso "Guarda el borrador para adjuntar fotos", pulsa Guardar primero: las fotos se asocian a cada hallazgo guardado.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Límite: </a:t>
            </a:r>
            <a:r>
              <a:rPr sz="1300" b="0">
                <a:solidFill>
                  <a:srgbClr val="334155"/>
                </a:solidFill>
                <a:latin typeface="Calibri"/>
              </a:rPr>
              <a:t>si una foto no se puede comprimir en tu equipo (formatos raros) y pesa más de 7,5 MB, el sistema pide otra foto (JPG/PNG).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EA5E9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HITO 3 — Salida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Calibri"/>
              </a:rPr>
              <a:t>Certificación de conformidad del despacho · pestaña "Salida"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3 · SALIDA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Cola de certificaciones y creación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La cola muestra: </a:t>
            </a:r>
            <a:r>
              <a:rPr sz="1300" b="0">
                <a:solidFill>
                  <a:srgbClr val="334155"/>
                </a:solidFill>
                <a:latin typeface="Calibri"/>
              </a:rPr>
              <a:t>"N certificación(es) · N pendiente(s)". Cada tarjeta: cliente, estado, chip "NV …", folio, "Guía … · fecha", bultos y transportista. Clic abre el formulario.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286000"/>
          <a:ext cx="11155679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669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Certificar salida (N.V. + SKU)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Permiso de 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el modal manual: N.V. (obligatoria), Cliente, Guía, Bultos, Transportista; buscador de SKUs del despacho (＋ para agregar) y "Crear certificación".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Actualizar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Refresca la cola.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🗑 Papelera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Solo ADMIN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Elimina una certificación creada por error.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80560"/>
            <a:ext cx="111556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2410C"/>
                </a:solidFill>
                <a:latin typeface="Calibri"/>
              </a:rPr>
              <a:t>El checklist de salida revisa: </a:t>
            </a:r>
            <a:r>
              <a:rPr sz="1250" b="0">
                <a:solidFill>
                  <a:srgbClr val="334155"/>
                </a:solidFill>
                <a:latin typeface="Calibri"/>
              </a:rPr>
              <a:t> Nivel 1 — Documentación (4 puntos: NV coincide · factura/guía adjunta · cliente y dirección correctos · transportista asignado).  Nivel 2 — Verificación física (7 puntos: SKU y descripción vs NV · cantidades · lote/serie para trazabilidad · embalaje · rotulado · N° bultos vs guía · condiciones de transporte/cadena de frío).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HITO 3 · SALIDA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Cerrar la certificación de salida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669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Guardar avance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Tarea abierta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Guarda sin cerrar.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Certificar salida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Todo respondido, SIN ningún NO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Emite folio CERT-SAL- y bloquea la tarea. El despacho queda certificado.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11D48"/>
                          </a:solidFill>
                          <a:latin typeface="Calibri"/>
                        </a:rPr>
                        <a:t>Finalizar (No Conforme)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Con algún NO (exige disposición)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Emite ACTA-SAL- y muestra el banner: "Salida NO CONFORME. No despachar hasta resolver."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Firmar digitalmente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Finalizada + permiso de Calidad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Firma HMAC del certificado (igual que el hito 1).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PDF / Word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Descarga el documento de salida.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17720"/>
            <a:ext cx="111556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2410C"/>
                </a:solidFill>
                <a:latin typeface="Calibri"/>
              </a:rPr>
              <a:t>Disposiciones con NO: </a:t>
            </a:r>
            <a:r>
              <a:rPr sz="1300" b="0">
                <a:solidFill>
                  <a:srgbClr val="334155"/>
                </a:solidFill>
                <a:latin typeface="Calibri"/>
              </a:rPr>
              <a:t>Retener / no despachar · Reacondicionar y reinspeccionar · Corregir documentación · Despachar con salvedades (autorizado).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0116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Acciones y seguimiento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Calibri"/>
              </a:rPr>
              <a:t>Acciones de Calidad · Mi Bandeja · Integración con Bodega y Servicio Técnico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ACCIONES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El tablero: /quality/acciones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Cada acción es una tarjeta con: </a:t>
            </a:r>
            <a:r>
              <a:rPr sz="1300" b="0">
                <a:solidFill>
                  <a:srgbClr val="334155"/>
                </a:solidFill>
                <a:latin typeface="Calibri"/>
              </a:rPr>
              <a:t>folio AC-, chips de Urgente/estado/tipo/"→ área"/dictamen/BD destino, SKU + producto, la instrucción en cursiva y la línea "ubicación · unidades · por quién · fecha límite". Si está RESUELTA, la caja verde dice quién y qué se hizo.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Filtros: </a:t>
            </a:r>
            <a:r>
              <a:rPr sz="1300" b="0">
                <a:solidFill>
                  <a:srgbClr val="334155"/>
                </a:solidFill>
                <a:latin typeface="Calibri"/>
              </a:rPr>
              <a:t>Pendientes (por defecto) · Mi área (según tu rol) · Todas.  Se refresca en tiempo real.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34640"/>
          <a:ext cx="11155679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502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Trazabilidad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la línea de tiempo completa del producto (lámina 24).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En proceso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Acción PENDIENTE + tu rol pertenece al área (o admin)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Marca que el área ya está trabajando en ella.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Resolver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Acción abierta + tu rol pertenece al área (o admin)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el campo "¿Qué se hizo? (acuse)"; con "Confirmar cierre" queda RESUELTA con tu acuse.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11D48"/>
                          </a:solidFill>
                          <a:latin typeface="Calibri"/>
                        </a:rPr>
                        <a:t>⛔ Anular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Admin o Calidad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Anula la acción (confirmación).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"Esperando a {área}"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 no perteneces al área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Solo informativo: la acción no es tuya.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ACCIONES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Mi Bandeja y los botones de integración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Mi Bandeja (/quality/bandeja): </a:t>
            </a:r>
            <a:r>
              <a:rPr sz="1300" b="0">
                <a:solidFill>
                  <a:srgbClr val="334155"/>
                </a:solidFill>
                <a:latin typeface="Calibri"/>
              </a:rPr>
              <a:t>lo mismo que el tablero pero SOLO con las acciones de tu(s) área(s) — ideal para el día a día. Filtros Pendientes/Todas y (solo admin/Calidad) "Ver todas las áreas". No tiene botón Anular.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Dentro de cada tarjeta, según el tipo de acción aparecen: </a:t>
            </a:r>
            <a:r>
              <a:rPr sz="13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606040"/>
          <a:ext cx="11155679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Crear ticket Serv. Técnico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Tipos REPARACION / POST_VENTA, sin ticket aún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Crea el ticket TKT- en Post-Venta con el INFORME DE CALIDAD adjunto; la acción queda EN PROCESO enlazada. Aparece el chip naranja con el número (clic = abre Post-Venta).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Ir a Traspasos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Tipos AJUSTE / BAJA / TRANSITORIO / REACONDICIONAR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Te lleva a Inventario → Traspasos para generar el movimiento.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Registrar traspaso/correo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Mismos tipos + permiso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Pide la referencia (ej: "Traspaso #77 · correo 09-07"); la acción pasa a EN PROCESO y la referencia queda en la trazabilidad. Luego puedes "Editar referencia".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INTEGRACIÓN CON BODEGA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Carpeta CALIDAD TRAZABILIDAD (en Inventario → Traspasos)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Qué es: </a:t>
            </a:r>
            <a:r>
              <a:rPr sz="1300" b="0">
                <a:solidFill>
                  <a:srgbClr val="334155"/>
                </a:solidFill>
                <a:latin typeface="Calibri"/>
              </a:rPr>
              <a:t>un panel verde plegable ARRIBA de Traspasos donde caen automáticamente las solicitudes que el dictamen derivó a bodega (Ajuste, Baja, Transitorio, Reacondicionar). Solo aparece si hay pendientes; el badge muestra cuántas.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Cada solicitud trae todo lo necesario: </a:t>
            </a:r>
            <a:r>
              <a:rPr sz="1300" b="0">
                <a:solidFill>
                  <a:srgbClr val="334155"/>
                </a:solidFill>
                <a:latin typeface="Calibri"/>
              </a:rPr>
              <a:t>folio, urgencia, dictamen, "→ BD destino", partida, ubicación, unidades y la instrucción de Calidad.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017520"/>
          <a:ext cx="11155679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7363"/>
                <a:gridCol w="2677363"/>
                <a:gridCol w="5800953"/>
              </a:tblGrid>
              <a:tr h="7315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Botón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Cuándo aparece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Correo enviado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Admin, área responsable, Inventario o Calidad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Cuando ya generaste el traspaso por correo, púlsalo (referencia opcional): LA ACCIÓN SE RESUELVE SOLA con el acuse "Correo de traspaso enviado · Dictamen X · Acción Y → BD Z". No hay que avisarle a nadie.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Traza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Siempre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Abre la trazabilidad del producto — ahí queda registrado el correo/traspaso.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92040"/>
            <a:ext cx="111556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2410C"/>
                </a:solidFill>
                <a:latin typeface="Calibri"/>
              </a:rPr>
              <a:t>El circuito completo: </a:t>
            </a:r>
            <a:r>
              <a:rPr sz="1250" b="0">
                <a:solidFill>
                  <a:srgbClr val="334155"/>
                </a:solidFill>
                <a:latin typeface="Calibri"/>
              </a:rPr>
              <a:t>Calidad dictamina CUARENTENA + acción TRANSITORIO → la solicitud cae a esta carpeta → bodega genera el traspaso con la app y marca "Correo enviado" → la tarea de Calidad queda RESUELTA automáticamente según el dictamen.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INTEGRACIÓN CON SERVICIO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El ticket nace con el informe de Calidad adjunto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Al crear el ticket desde una acción </a:t>
            </a:r>
            <a:r>
              <a:rPr sz="1300" b="0">
                <a:solidFill>
                  <a:srgbClr val="334155"/>
                </a:solidFill>
                <a:latin typeface="Calibri"/>
              </a:rPr>
              <a:t>(REPARACION / POST_VENTA), el ticket llega a Post-Venta con serie especial CAL- (chip verde), prioridad heredada (URGENTE → Alta) y el equipo pre-cargado con la familia real del SKU.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En el ticket aparece la caja verde "Caso derivado de Calidad" </a:t>
            </a:r>
            <a:r>
              <a:rPr sz="1300" b="0">
                <a:solidFill>
                  <a:srgbClr val="334155"/>
                </a:solidFill>
                <a:latin typeface="Calibri"/>
              </a:rPr>
              <a:t>con la Acción (folio AC-) y el Informe adjunto (MON-/DAN-).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Botón "Ver informe": </a:t>
            </a:r>
            <a:r>
              <a:rPr sz="1300" b="0">
                <a:solidFill>
                  <a:srgbClr val="334155"/>
                </a:solidFill>
                <a:latin typeface="Calibri"/>
              </a:rPr>
              <a:t>abre el informe COMPLETO dentro del ticket, sin permisos de Calidad: dictamen coloreado, ficha del producto (lote, ubicación, condición, motivo, BD destino, tipo de daño, quién y cuándo dictaminó), la Instrucción de Calidad y la galería de evidencias (clic = foto completa).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77639"/>
            <a:ext cx="11155680" cy="1828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LO QUE VE EL TÉCNICO EN EL MODAL "INFORME DE CALIDAD"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Cabecera: número, fecha, analista, tipo y periodicidad del informe.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Chips: Dictamen (color según gravedad) · Acción · folio.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Ficha completa del producto dictaminado + observaciones + acuse.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Instrucción de Calidad (caja índigo) + referencia de ejecución si existe.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Evidencias fotográficas (N) — imágenes privadas con URL firmada.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SEGUIMIENTO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Trazabilidad del producto (botón "Trazabilidad" / "Traza")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Un solo modal muestra TODA la historia del SKU: </a:t>
            </a:r>
            <a:r>
              <a:rPr sz="1300" b="0">
                <a:solidFill>
                  <a:srgbClr val="334155"/>
                </a:solidFill>
                <a:latin typeface="Calibri"/>
              </a:rPr>
              <a:t>estado de calidad vigente arriba (badge: En Auditoría ámbar · Cuarentena naranja · Malo rosa · Liberado verde) y la línea de tiempo abajo.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2596896" cy="91440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RECEPCIÓN
checklist + folio</a:t>
            </a:r>
          </a:p>
        </p:txBody>
      </p:sp>
      <p:sp>
        <p:nvSpPr>
          <p:cNvPr id="10" name="Chevron 9"/>
          <p:cNvSpPr/>
          <p:nvPr/>
        </p:nvSpPr>
        <p:spPr>
          <a:xfrm>
            <a:off x="3130539" y="2898648"/>
            <a:ext cx="204825" cy="32918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5848" y="2606040"/>
            <a:ext cx="2596896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ESTANCIA
informes y dictámenes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83467" y="2898648"/>
            <a:ext cx="204825" cy="32918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2606040"/>
            <a:ext cx="2596896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ACCIÓN
ticket ST · ref. traspaso/correo</a:t>
            </a:r>
          </a:p>
        </p:txBody>
      </p:sp>
      <p:sp>
        <p:nvSpPr>
          <p:cNvPr id="14" name="Chevron 13"/>
          <p:cNvSpPr/>
          <p:nvPr/>
        </p:nvSpPr>
        <p:spPr>
          <a:xfrm>
            <a:off x="8836395" y="2898648"/>
            <a:ext cx="204825" cy="329184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61704" y="2606040"/>
            <a:ext cx="2596896" cy="9144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SALIDA
certificación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Cada evento muestra: </a:t>
            </a:r>
            <a:r>
              <a:rPr sz="1300" b="0">
                <a:solidFill>
                  <a:srgbClr val="334155"/>
                </a:solidFill>
                <a:latin typeface="Calibri"/>
              </a:rPr>
              <a:t>título, estado coloreado (verde = conforme/liberado/resuelta · rojo = no conforme/rechazar/baja · ámbar = cuarentena/pendiente/en proceso), folio, detalle y fecha.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Dónde se abre: </a:t>
            </a:r>
            <a:r>
              <a:rPr sz="1300" b="0">
                <a:solidFill>
                  <a:srgbClr val="334155"/>
                </a:solidFill>
                <a:latin typeface="Calibri"/>
              </a:rPr>
              <a:t>desde cualquier tarjeta de acción (Acciones, Mi Bandeja) y desde la carpeta CALIDAD TRAZABILIDAD de Traspasos.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DOCUMENTOS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Firma digital y verificación pública por QR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Firmar digitalmente: </a:t>
            </a:r>
            <a:r>
              <a:rPr sz="1400" b="0">
                <a:solidFill>
                  <a:srgbClr val="334155"/>
                </a:solidFill>
                <a:latin typeface="Calibri"/>
              </a:rPr>
              <a:t>disponible en checklists finalizados (ingreso y salida). La firma es HMAC-SHA256 calculada en el servidor: queda el nombre del firmante, la fecha, el algoritmo y el hash. El documento exportado lleva un QR.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Verificación pública: </a:t>
            </a:r>
            <a:r>
              <a:rPr sz="1400" b="0">
                <a:solidFill>
                  <a:srgbClr val="334155"/>
                </a:solidFill>
                <a:latin typeface="Calibri"/>
              </a:rPr>
              <a:t>cualquiera que escanee el QR llega a /verificar?folio=… (NO requiere login) y ve "Documento válido" (verde) o "No válido" (rojo) con: folio, resultado, proveedor, OC, origen, fecha de recepción, firmado por, fecha de firma y algoritmo.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Anti-adulteración: </a:t>
            </a:r>
            <a:r>
              <a:rPr sz="1400" b="0">
                <a:solidFill>
                  <a:srgbClr val="334155"/>
                </a:solidFill>
                <a:latin typeface="Calibri"/>
              </a:rPr>
              <a:t>la verificación es criptográfica contra el registro original — cualquier alteración del documento invalida la firma.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11155680" cy="1600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70832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CADENA DEL CERTIFICADO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1916582" cy="82296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Checklist
finalizado</a:t>
            </a:r>
          </a:p>
        </p:txBody>
      </p:sp>
      <p:sp>
        <p:nvSpPr>
          <p:cNvPr id="12" name="Chevron 11"/>
          <p:cNvSpPr/>
          <p:nvPr/>
        </p:nvSpPr>
        <p:spPr>
          <a:xfrm>
            <a:off x="2724545" y="5018227"/>
            <a:ext cx="204825" cy="296265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9854" y="4754880"/>
            <a:ext cx="1916582" cy="82296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Folio
CERT- / ACTA-</a:t>
            </a:r>
          </a:p>
        </p:txBody>
      </p:sp>
      <p:sp>
        <p:nvSpPr>
          <p:cNvPr id="14" name="Chevron 13"/>
          <p:cNvSpPr/>
          <p:nvPr/>
        </p:nvSpPr>
        <p:spPr>
          <a:xfrm>
            <a:off x="4897159" y="5018227"/>
            <a:ext cx="204825" cy="296265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2468" y="4754880"/>
            <a:ext cx="1916582" cy="8229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Firma HMAC
(servidor)</a:t>
            </a:r>
          </a:p>
        </p:txBody>
      </p:sp>
      <p:sp>
        <p:nvSpPr>
          <p:cNvPr id="16" name="Chevron 15"/>
          <p:cNvSpPr/>
          <p:nvPr/>
        </p:nvSpPr>
        <p:spPr>
          <a:xfrm>
            <a:off x="7069773" y="5018227"/>
            <a:ext cx="204825" cy="296265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95082" y="4754880"/>
            <a:ext cx="1916582" cy="82296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PDF / Word
con QR</a:t>
            </a:r>
          </a:p>
        </p:txBody>
      </p:sp>
      <p:sp>
        <p:nvSpPr>
          <p:cNvPr id="18" name="Chevron 17"/>
          <p:cNvSpPr/>
          <p:nvPr/>
        </p:nvSpPr>
        <p:spPr>
          <a:xfrm>
            <a:off x="9242387" y="5018227"/>
            <a:ext cx="204825" cy="296265"/>
          </a:xfrm>
          <a:prstGeom prst="chevron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7696" y="4754880"/>
            <a:ext cx="1916582" cy="82296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/verificar
validación pública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REFERENCIA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Catálogos: estados y clasificaciones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457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23590"/>
                <a:gridCol w="8032089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Catálogo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Valores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Estados de tarea (checklist)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Pendiente · En proceso · Conforme (verde) · No conforme (rosa)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Estados de informe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BORRADOR · ENVIADO CALIDAD · DICTAMINADO · CERRADO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Estados de acción / asignación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Pendiente (ámbar) · En proceso (celeste) · Resuelta (verde) · Anulada (gris)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Prioridades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Normal · Urgente (chip rojo)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Semáforo de vencimiento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🔴 vence en &lt;30 días · 🟠 &lt;90 días · 🟢 vigente · (NA sin vencimiento)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Condición observada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OK · Próximo a vencer · Vencido · Daño de empaque · Daño de producto · Faltante · Sobrante · Sin rotación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Motivos de revisión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Rutina · Vencimiento · Reclamo · Devolución · Hallazgo · Auditoría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Clasificación de daños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No Conformidad/Daño en Transporte · Daño en Recepción · en Almacenamiento · por Manipulación · Vencido/Deteriorado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Estados de calidad del stock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LIBERADO (verde) · EN AUDITORÍA (ámbar) · CUARENTENA (naranja) · MALO (rosa)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REFERENCIA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¿Quién puede hacer qué?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55679" cy="4626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00953"/>
                <a:gridCol w="5354726"/>
              </a:tblGrid>
              <a:tr h="42062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Acción en el sistema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Permiso necesario</a:t>
                      </a:r>
                    </a:p>
                  </a:txBody>
                  <a:tcPr marL="76200" marR="76200" marT="25400" marB="25400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Ver el módulo y sus hitos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manage_monitoreo · manage_quality · manage_inventory (Inventario solo hito 2)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Crear/editar informes (Monitoreo y Daños) y subir fotos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manage_monitoreo o manage_quality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DICTAMINAR y cerrar dictamen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11D48"/>
                          </a:solidFill>
                          <a:latin typeface="Calibri"/>
                        </a:rPr>
                        <a:t>solo manage_quality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Asignar SKUs a Calidad · anular asignaciones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ADMIN / admin delegado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Resolver o poner "En proceso" una acción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Rol perteneciente al ÁREA responsable (o admin)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Anular una acción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Admin o manage_quality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"Correo enviado" en la carpeta de Traspasos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Admin · área responsable · manage_inventory · manage_quality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Firmar certificados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Permiso de Calidad (tarea finalizada)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Eliminar tareas / asignaciones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Solo ADMIN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Ver Acciones / Mi Bandeja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view_acciones_calidad · manage_quality · manage_monitoreo</a:t>
                      </a:r>
                    </a:p>
                  </a:txBody>
                  <a:tcPr marL="76200" marR="762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Los permisos se administran en Configuración → Usuarios y Roles (grupo "Calidad").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PARA TERMINAR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2471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7 reglas de oro del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CCO · PTM — Módulo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1 · No elijas el resultado: </a:t>
            </a:r>
            <a:r>
              <a:rPr sz="1500" b="0">
                <a:solidFill>
                  <a:srgbClr val="334155"/>
                </a:solidFill>
                <a:latin typeface="Calibri"/>
              </a:rPr>
              <a:t>respóndelo todo y el sistema determina CONFORME / NO CONFORME por ti.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2 · Todo NO lleva detalle y disposición: </a:t>
            </a:r>
            <a:r>
              <a:rPr sz="1500" b="0">
                <a:solidFill>
                  <a:srgbClr val="334155"/>
                </a:solidFill>
                <a:latin typeface="Calibri"/>
              </a:rPr>
              <a:t>sin eso no se puede finalizar un checklist no conforme.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3 · Guarda el borrador antes de las fotos: </a:t>
            </a:r>
            <a:r>
              <a:rPr sz="1500" b="0">
                <a:solidFill>
                  <a:srgbClr val="334155"/>
                </a:solidFill>
                <a:latin typeface="Calibri"/>
              </a:rPr>
              <a:t>las evidencias se asocian a hallazgos guardados.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4 · La ubicación es obligatoria para enviar un monitoreo: </a:t>
            </a:r>
            <a:r>
              <a:rPr sz="1500" b="0">
                <a:solidFill>
                  <a:srgbClr val="334155"/>
                </a:solidFill>
                <a:latin typeface="Calibri"/>
              </a:rPr>
              <a:t>y quedará marcada "En Auditoría" si la condición no es OK.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5 · Dictamen que mueve = bodega destino: </a:t>
            </a:r>
            <a:r>
              <a:rPr sz="1500" b="0">
                <a:solidFill>
                  <a:srgbClr val="334155"/>
                </a:solidFill>
                <a:latin typeface="Calibri"/>
              </a:rPr>
              <a:t>Cuarentena, Reproceso, Rechazar y Baja siempre piden BD.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6 · La acción es el puente: </a:t>
            </a:r>
            <a:r>
              <a:rPr sz="1500" b="0">
                <a:solidFill>
                  <a:srgbClr val="334155"/>
                </a:solidFill>
                <a:latin typeface="Calibri"/>
              </a:rPr>
              <a:t>tipos de bodega → carpeta en Traspasos ("Correo enviado" la resuelve sola); Reparación/Post-venta → ticket TKT- con informe adjunto.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</a:t>
            </a:r>
            <a:r>
              <a:rPr sz="1500" b="1">
                <a:solidFill>
                  <a:srgbClr val="0F172A"/>
                </a:solidFill>
                <a:latin typeface="Calibri"/>
              </a:rPr>
              <a:t>7 · Firma y QR al final: </a:t>
            </a:r>
            <a:r>
              <a:rPr sz="1500" b="0">
                <a:solidFill>
                  <a:srgbClr val="334155"/>
                </a:solidFill>
                <a:latin typeface="Calibri"/>
              </a:rPr>
              <a:t>un documento firmado es verificable públicamente; si alguien lo altera, la verificación falla.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Dudas o mejoras: Administración → Tickets TI · Manual completo del sistema en DOCUMENTACION_PROYECTO.md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